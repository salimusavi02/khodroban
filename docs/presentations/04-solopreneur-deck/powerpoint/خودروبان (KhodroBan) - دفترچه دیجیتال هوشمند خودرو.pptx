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7.png"/><Relationship Id="rId12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7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17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2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17.png"/><Relationship Id="rId5" Type="http://schemas.openxmlformats.org/officeDocument/2006/relationships/image" Target="../media/image62.png"/><Relationship Id="rId6" Type="http://schemas.openxmlformats.org/officeDocument/2006/relationships/image" Target="../media/image41.png"/><Relationship Id="rId7" Type="http://schemas.openxmlformats.org/officeDocument/2006/relationships/image" Target="../media/image63.png"/><Relationship Id="rId8" Type="http://schemas.openxmlformats.org/officeDocument/2006/relationships/image" Target="../media/image34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17.png"/><Relationship Id="rId5" Type="http://schemas.openxmlformats.org/officeDocument/2006/relationships/image" Target="../media/image68.png"/><Relationship Id="rId6" Type="http://schemas.openxmlformats.org/officeDocument/2006/relationships/image" Target="../media/image34.png"/><Relationship Id="rId7" Type="http://schemas.openxmlformats.org/officeDocument/2006/relationships/image" Target="../media/image69.png"/><Relationship Id="rId8" Type="http://schemas.openxmlformats.org/officeDocument/2006/relationships/image" Target="../media/image41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24361" y="0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810104" y="375426"/>
            <a:ext cx="571485" cy="3921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33646" y="1523999"/>
            <a:ext cx="5933926" cy="733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040"/>
              </a:spcAft>
            </a:pPr>
            <a:r>
              <a:rPr sz="3827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خودروبان (KhodroBan)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5727" y="2400300"/>
            <a:ext cx="239071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دفترچه دیجیتال هوشمند خودرو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52756" y="2990849"/>
            <a:ext cx="4686182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913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دیگر هیچ سرویسی را فراموش نکنید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5942" y="4038599"/>
            <a:ext cx="7619809" cy="2819399"/>
          </a:xfrm>
          <a:prstGeom prst="roundRect">
            <a:avLst>
              <a:gd name="adj" fmla="val 1081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1210" y="4333875"/>
            <a:ext cx="7029274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یک وب‌اپلیکیشن ساده که به مالکان خودرو کمک می‌کند: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1210" y="4886325"/>
            <a:ext cx="7029274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78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سوابق سرویس خودرو را ثبت کنند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81890" y="4941569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81210" y="5305425"/>
            <a:ext cx="7029274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78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با یادآوری هوشمند، هیچ سرویسی را فراموش نکنند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81890" y="5362098"/>
            <a:ext cx="228594" cy="19145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81890" y="5788342"/>
            <a:ext cx="228594" cy="17716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81890" y="6207442"/>
            <a:ext cx="228594" cy="177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5525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مالکان خودرو در ایران با یک مشکل واقعی دست‌وپنجه نرم می‌کنند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2295525"/>
            <a:ext cx="5381490" cy="1600200"/>
          </a:xfrm>
          <a:prstGeom prst="roundRect">
            <a:avLst>
              <a:gd name="adj" fmla="val 1904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77038" y="2590799"/>
            <a:ext cx="914377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160"/>
              </a:lnSpc>
              <a:spcBef>
                <a:spcPts val="0"/>
              </a:spcBef>
              <a:spcAft>
                <a:spcPts val="650"/>
              </a:spcAft>
            </a:pPr>
            <a:r>
              <a:rPr sz="3827" b="1">
                <a:solidFill>
                  <a:srgbClr val="EF4444"/>
                </a:solidFill>
                <a:latin typeface="Vazirmatn"/>
                <a:rFonts ascii="Vazirmatn" hAnsi="Vazirmatn" eastAsia="Vazirmatn" cs="Vazirmatn"/>
              </a:rPr>
              <a:t>۹۰٪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5927" y="3295650"/>
            <a:ext cx="40670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مالکان خودرو حداقل یک بار سرویس را فراموش کرده‌اند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8719" y="4181474"/>
            <a:ext cx="5381490" cy="1447800"/>
          </a:xfrm>
          <a:prstGeom prst="roundRect">
            <a:avLst>
              <a:gd name="adj" fmla="val 21052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05492" y="4476750"/>
            <a:ext cx="324794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۱۵+ میلیون تومان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056" y="5029200"/>
            <a:ext cx="43528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میانگین هزینه تعمیر موتور به دلیل تعویض دیرهنگام روغن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485" y="2390774"/>
            <a:ext cx="5381490" cy="3429000"/>
          </a:xfrm>
          <a:prstGeom prst="roundRect">
            <a:avLst>
              <a:gd name="adj" fmla="val 8888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753" y="2686050"/>
            <a:ext cx="479095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EF4444"/>
                </a:solidFill>
                <a:latin typeface="Vazirmatn"/>
                <a:rFonts ascii="Vazirmatn" hAnsi="Vazirmatn" eastAsia="Vazirmatn" cs="Vazirmatn"/>
              </a:rPr>
              <a:t>درد‌های اصلی کاربران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53" y="3238500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دفترچه کاغذی گم می‌شود یا ناخوانا می‌شود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29114" y="331946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6753" y="3695699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فراموش کردن زمان یا کیلومتر سرویس بعدی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29114" y="3776662"/>
            <a:ext cx="228594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6753" y="4152899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عدم پیگیری دقیق هزینه‌های نگهداری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29114" y="4233862"/>
            <a:ext cx="228594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6753" y="4610099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از دست رفتن سوابق هنگام تعویض گوشی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29114" y="4691062"/>
            <a:ext cx="228594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6753" y="5067299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نبود راهنمایی شخصی برای نگهداری خودرو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29114" y="5148262"/>
            <a:ext cx="228594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5525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دفترچه دیجیتال هوشمند که هرگز فراموش نمی‌کند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342" y="1924049"/>
            <a:ext cx="5333866" cy="2057400"/>
          </a:xfrm>
          <a:prstGeom prst="roundRect">
            <a:avLst>
              <a:gd name="adj" fmla="val 1481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1610" y="2219324"/>
            <a:ext cx="474333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راه‌حل در یک جمله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610" y="2771775"/>
            <a:ext cx="4743331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خودروبان یک وب‌اپلیکیشن ساده است که با استفاده از هوش مصنوعی، به مالکان خودرو کمک می‌کند سرویس‌های خود را مدیریت کنند.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4267199"/>
            <a:ext cx="5333866" cy="3886200"/>
          </a:xfrm>
          <a:prstGeom prst="roundRect">
            <a:avLst>
              <a:gd name="adj" fmla="val 784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1610" y="4562475"/>
            <a:ext cx="474333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ویژگی‌های اصلی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610" y="5114925"/>
            <a:ext cx="4743331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ثبت سوابق سرویس (تاریخ، کیلومتر، هزینه)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96347" y="5191601"/>
            <a:ext cx="228594" cy="15144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96347" y="5628798"/>
            <a:ext cx="228594" cy="19145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96347" y="6093142"/>
            <a:ext cx="228594" cy="17716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96347" y="6557486"/>
            <a:ext cx="228594" cy="16287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96347" y="7007542"/>
            <a:ext cx="228594" cy="1771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96347" y="7470457"/>
            <a:ext cx="228594" cy="1657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904952" y="2371725"/>
            <a:ext cx="2666933" cy="5334000"/>
          </a:xfrm>
          <a:prstGeom prst="roundRect">
            <a:avLst>
              <a:gd name="adj" fmla="val 21428"/>
            </a:avLst>
          </a:prstGeom>
          <a:solidFill>
            <a:srgbClr val="1E293B"/>
          </a:solidFill>
          <a:ln w="825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00199" y="2466975"/>
            <a:ext cx="2476438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57428" y="2657475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047923" y="2907506"/>
            <a:ext cx="380990" cy="2619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09804" y="3609975"/>
            <a:ext cx="84770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950"/>
              </a:spcAft>
            </a:pPr>
            <a:r>
              <a:rPr sz="1435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خودروبان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695" y="4257675"/>
            <a:ext cx="2095447" cy="542925"/>
          </a:xfrm>
          <a:prstGeom prst="roundRect">
            <a:avLst>
              <a:gd name="adj" fmla="val 4210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905152" y="4458176"/>
            <a:ext cx="228594" cy="15144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09784" y="4410074"/>
            <a:ext cx="118107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ثبت سوابق سرویس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695" y="4952999"/>
            <a:ext cx="2095447" cy="542925"/>
          </a:xfrm>
          <a:prstGeom prst="roundRect">
            <a:avLst>
              <a:gd name="adj" fmla="val 4210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05152" y="5123973"/>
            <a:ext cx="228594" cy="1914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09804" y="5105400"/>
            <a:ext cx="98105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یادآوری هوشمند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0695" y="5648325"/>
            <a:ext cx="2095447" cy="542925"/>
          </a:xfrm>
          <a:prstGeom prst="roundRect">
            <a:avLst>
              <a:gd name="adj" fmla="val 4210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905152" y="5835967"/>
            <a:ext cx="228594" cy="1771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685982" y="5800725"/>
            <a:ext cx="110487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مشاور هوشمند 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0695" y="6343650"/>
            <a:ext cx="2095447" cy="542925"/>
          </a:xfrm>
          <a:prstGeom prst="roundRect">
            <a:avLst>
              <a:gd name="adj" fmla="val 4210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905152" y="6528911"/>
            <a:ext cx="228594" cy="16287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905052" y="6496049"/>
            <a:ext cx="88580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پیگیری کیلومتر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61166"/>
            <a:ext cx="342891" cy="2778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مقایسه با روش‌های سنتی و اپلیکیشن‌های موجود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485" y="1924049"/>
            <a:ext cx="11048723" cy="6886575"/>
          </a:xfrm>
          <a:prstGeom prst="roundRect">
            <a:avLst>
              <a:gd name="adj" fmla="val 4426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485" y="9096375"/>
            <a:ext cx="11048723" cy="1047749"/>
          </a:xfrm>
          <a:prstGeom prst="roundRect">
            <a:avLst>
              <a:gd name="adj" fmla="val 2909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67753" y="9445792"/>
            <a:ext cx="457188" cy="348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0935" y="9439275"/>
            <a:ext cx="6086322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مزیت رقابتی من: ترکیب سادگی + هوشمندی AI + تجربه کاربری عالی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56732"/>
            <a:ext cx="342891" cy="2867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قدرت AI + اتوماسیون + تخصص من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67573" y="1924049"/>
            <a:ext cx="2552636" cy="3848099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020149" y="2476499"/>
            <a:ext cx="304792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20149" y="2639157"/>
            <a:ext cx="304792" cy="24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365" y="2219324"/>
            <a:ext cx="1504912" cy="10858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هوش مصنوعی برای مشاوره شخصی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365" y="3495675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تحلیل سوابق خودرو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350968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72365" y="395287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پیشنهادهای نگهداری شخصی‌شده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396688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72365" y="4714875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بدون نیاز به تیم پشتیبانی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4728882"/>
            <a:ext cx="190495" cy="16248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38719" y="1924049"/>
            <a:ext cx="2552636" cy="3848099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43671" y="2295525"/>
            <a:ext cx="342891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62720" y="2452321"/>
            <a:ext cx="304792" cy="257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3986" y="2219324"/>
            <a:ext cx="1457288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اتوماسیون کامل یادآوری‌ها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3986" y="31337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یادآوری خودکار زمان و کیلومتر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05592" y="31477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3986" y="38957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ارسال ایمیل‌های هوشمند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05592" y="3909732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33986" y="4657725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محاسبه خودکار موعد سرویس بعدی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05592" y="4671732"/>
            <a:ext cx="190495" cy="16248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409864" y="1924049"/>
            <a:ext cx="2552636" cy="3848099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29094" y="2295525"/>
            <a:ext cx="428614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95767" y="2472836"/>
            <a:ext cx="304792" cy="2168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95607" y="2219324"/>
            <a:ext cx="1381090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زیرساخت ابری مدرن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5607" y="31337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Supabase برای Backend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67213" y="31477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95607" y="38957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Vercel برای Frontend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67213" y="39097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95607" y="4657725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بدون نیاز به سرور اختصاصی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67213" y="4671732"/>
            <a:ext cx="190495" cy="16248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71485" y="1924049"/>
            <a:ext cx="2552636" cy="3848099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371665" y="2295525"/>
            <a:ext cx="457188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447863" y="2464044"/>
            <a:ext cx="304792" cy="23446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6753" y="2219324"/>
            <a:ext cx="1352516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تحلیل داده‌ها با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753" y="31337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یادگیری از الگوی رانندگی کاربر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28834" y="3147732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6753" y="38957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پیش‌بینی دقیق‌تر موعد سرویس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28834" y="3909732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6753" y="4657725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بهینه‌سازی تجربه کاربری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28834" y="4671732"/>
            <a:ext cx="190495" cy="16248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71485" y="6153149"/>
            <a:ext cx="11048723" cy="25146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9989" y="7000875"/>
            <a:ext cx="19049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روش سنتی: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753" y="7038974"/>
            <a:ext cx="8553236" cy="228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705532" y="7038974"/>
            <a:ext cx="1714457" cy="228600"/>
          </a:xfrm>
          <a:prstGeom prst="roundRect">
            <a:avLst>
              <a:gd name="adj" fmla="val 10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8008" y="7029450"/>
            <a:ext cx="66673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۲۰٪ سرعت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9989" y="7458075"/>
            <a:ext cx="19049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استارتاپ معمولی: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6753" y="7496174"/>
            <a:ext cx="8553236" cy="228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581210" y="7496174"/>
            <a:ext cx="6838779" cy="228600"/>
          </a:xfrm>
          <a:prstGeom prst="roundRect">
            <a:avLst>
              <a:gd name="adj" fmla="val 10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8483" y="7486650"/>
            <a:ext cx="6762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۸۰٪ سرعت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9989" y="7915275"/>
            <a:ext cx="19049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من (با AI):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6753" y="7953374"/>
            <a:ext cx="8553236" cy="228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66753" y="7953374"/>
            <a:ext cx="8553236" cy="228600"/>
          </a:xfrm>
          <a:prstGeom prst="roundRect">
            <a:avLst>
              <a:gd name="adj" fmla="val 10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7473" y="7943850"/>
            <a:ext cx="125726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۱۰۰٪ سرعت + کیفیت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76546" y="628650"/>
            <a:ext cx="1629976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دقیقاً چه کسی قرار است به من پول بدهد؟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1924049"/>
            <a:ext cx="5381490" cy="3276599"/>
          </a:xfrm>
          <a:prstGeom prst="roundRect">
            <a:avLst>
              <a:gd name="adj" fmla="val 9302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58248" y="2304635"/>
            <a:ext cx="266693" cy="191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96347" y="2844165"/>
            <a:ext cx="228594" cy="160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29374" y="2771775"/>
            <a:ext cx="295267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مالک خودرو شخصی (یک یا چند خودرو)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96347" y="3275647"/>
            <a:ext cx="228594" cy="211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77158" y="3228975"/>
            <a:ext cx="13048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سن: ۲۵-۴۵ سال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96347" y="374999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48563" y="3686175"/>
            <a:ext cx="153348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درآمد: متوسط به بالا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96347" y="4187190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5612" y="4143375"/>
            <a:ext cx="247643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استفاده از موبایل و اینترنت روزانه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96347" y="4642961"/>
            <a:ext cx="228594" cy="2200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10384" y="4600575"/>
            <a:ext cx="23716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اهمیت به نگهداری منظم خودرو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5486400"/>
            <a:ext cx="5381490" cy="3448049"/>
          </a:xfrm>
          <a:prstGeom prst="roundRect">
            <a:avLst>
              <a:gd name="adj" fmla="val 883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58248" y="5890177"/>
            <a:ext cx="266693" cy="1449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00759" y="6334125"/>
            <a:ext cx="2666933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160"/>
              </a:lnSpc>
              <a:spcBef>
                <a:spcPts val="0"/>
              </a:spcBef>
              <a:spcAft>
                <a:spcPts val="650"/>
              </a:spcAft>
            </a:pPr>
            <a:r>
              <a:rPr sz="3827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۱۰+ میلیون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6978" y="7038974"/>
            <a:ext cx="210497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مالک خودرو شخصی در ایران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8939" y="7629525"/>
            <a:ext cx="981050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160"/>
              </a:lnSpc>
              <a:spcBef>
                <a:spcPts val="0"/>
              </a:spcBef>
              <a:spcAft>
                <a:spcPts val="650"/>
              </a:spcAft>
            </a:pPr>
            <a:r>
              <a:rPr sz="3827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۷۰٪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7888" y="8334374"/>
            <a:ext cx="293362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هنوز از روش‌های سنتی استفاده می‌کنند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485" y="1924049"/>
            <a:ext cx="5381490" cy="7010399"/>
          </a:xfrm>
          <a:prstGeom prst="roundRect">
            <a:avLst>
              <a:gd name="adj" fmla="val 566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391015" y="2295939"/>
            <a:ext cx="266693" cy="20872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276718" y="27717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352916" y="2890837"/>
            <a:ext cx="228594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047923" y="2771775"/>
            <a:ext cx="20763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فراموش کردن زمان سرویس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76718" y="33051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352916" y="3425666"/>
            <a:ext cx="228594" cy="14001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990775" y="3305174"/>
            <a:ext cx="21335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یادآوری خودکار و قابل اعتماد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76718" y="38385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352916" y="3957637"/>
            <a:ext cx="228594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647883" y="3838574"/>
            <a:ext cx="247643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نداشتن راهنمای نگهداری شخصی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76718" y="43719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352916" y="4492466"/>
            <a:ext cx="228594" cy="14001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57428" y="4371975"/>
            <a:ext cx="226689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مشاوره بر اساس سابقه خودرو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76718" y="49053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352916" y="5024437"/>
            <a:ext cx="228594" cy="1428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571785" y="4905375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عدم پیگیری هزینه‌ها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76718" y="54387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352916" y="5559266"/>
            <a:ext cx="228594" cy="1400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057448" y="5438774"/>
            <a:ext cx="20668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گزارش ساده و قابل دسترس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76718" y="5972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352916" y="6091237"/>
            <a:ext cx="228594" cy="142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609884" y="5972175"/>
            <a:ext cx="151443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از دست رفتن سوابق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76718" y="65055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352916" y="6626066"/>
            <a:ext cx="228594" cy="14001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43191" y="6505575"/>
            <a:ext cx="17811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ذخیره‌سازی ابری و بکاپ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6707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شفافیت مالی کامل — من دنبال سودآوری هستم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1924049"/>
            <a:ext cx="5381490" cy="5676900"/>
          </a:xfrm>
          <a:prstGeom prst="roundRect">
            <a:avLst>
              <a:gd name="adj" fmla="val 566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53456" y="22193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86802" y="2381982"/>
            <a:ext cx="304792" cy="24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43811" y="2295525"/>
            <a:ext cx="105724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پلن رایگان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3986" y="2981325"/>
            <a:ext cx="4790955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913" b="1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ماهانه ۰ تومان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3986" y="3648074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۱ خودرو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366208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3986" y="4105274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یادآوری پایه (داخل اپ)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411928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3986" y="4562475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ثبت سوابق سرویس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4576482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3986" y="5019675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ثبت هزینه‌ها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503368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3986" y="5476875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گزارش ساده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549088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3986" y="7038974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هدف: جذب کاربر و اثبات ارزش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485" y="1924049"/>
            <a:ext cx="5381490" cy="5676900"/>
          </a:xfrm>
          <a:prstGeom prst="roundRect">
            <a:avLst>
              <a:gd name="adj" fmla="val 566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6222" y="22193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19569" y="2376121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86122" y="2295525"/>
            <a:ext cx="847703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پلن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53" y="2981325"/>
            <a:ext cx="4790955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913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ماهانه ۵۰,۰۰۰ تومان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53" y="3648074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خودروهای نامحدود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36620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6753" y="4105274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یادآوری پیشرفته (ایمیل + اپ)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4119282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6753" y="4562475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مشاور هوشمند AI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457648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6753" y="5019675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همگام‌سازی ابری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5033682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6753" y="5476875"/>
            <a:ext cx="4790955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گزارش‌های پیشرفته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5490882"/>
            <a:ext cx="190495" cy="16248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5948082"/>
            <a:ext cx="190495" cy="16248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67213" y="6405282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6753" y="7038974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هدف: درآمدزایی پایدار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8719" y="7886700"/>
            <a:ext cx="5381490" cy="3695699"/>
          </a:xfrm>
          <a:prstGeom prst="roundRect">
            <a:avLst>
              <a:gd name="adj" fmla="val 824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58248" y="8290477"/>
            <a:ext cx="266693" cy="14494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29474" y="873442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۱-۳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9474" y="907732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۱۰۰ کاربر → ۱۰ Pro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9474" y="9496425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۵۰۰K تومان/ماه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3986" y="873442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۴-۶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3986" y="907732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۵۰۰ کاربر → ۵۰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3986" y="9496425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۲.۵M تومان/ماه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3986" y="10106024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۷-۱۲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3986" y="10448924"/>
            <a:ext cx="4790955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۱,۰۰۰ کاربر → ۱۰۰ 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3986" y="10868025"/>
            <a:ext cx="4790955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۵M تومان/ماه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1485" y="7886700"/>
            <a:ext cx="5381490" cy="3695699"/>
          </a:xfrm>
          <a:prstGeom prst="roundRect">
            <a:avLst>
              <a:gd name="adj" fmla="val 8247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391015" y="8244094"/>
            <a:ext cx="266693" cy="23771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352716" y="873442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Hosting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2716" y="907732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~۲۰۰K تومان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753" y="873442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ایمیل/نوتیفیکیشن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753" y="907732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~۱۰۰K تومان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52716" y="9686925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AI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716" y="10029825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~۳۰۰K تومان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6753" y="9686925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مجموع هزینه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753" y="10029825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~۶۰۰K تومان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72385" y="11868150"/>
            <a:ext cx="60005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۱۰٪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81850" y="12420599"/>
            <a:ext cx="17811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نرخ تبدیل (کاربر به Pro)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43411" y="11868150"/>
            <a:ext cx="110487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~۸۸٪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5232" y="12420599"/>
            <a:ext cx="277170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حاشیه سود (بدون کارمند، بدون دفتر)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28734" y="11868150"/>
            <a:ext cx="138109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~۴.۴M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09684" y="12420599"/>
            <a:ext cx="14191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سود خالص (ماه ۶)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7890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رشد ارگانیک و بازاریابی محتوایی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4621" y="1924049"/>
            <a:ext cx="3495587" cy="4095749"/>
          </a:xfrm>
          <a:prstGeom prst="roundRect">
            <a:avLst>
              <a:gd name="adj" fmla="val 871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53456" y="22193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86802" y="2387844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15177" y="2324100"/>
            <a:ext cx="1685882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تولید محتوا و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9889" y="2981325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مقالات وبلاگ: "چطور سرویس خودرو را فراموش نکنید"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299533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9889" y="3743325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راهنماهای ویدیویی: آموزش استفاده از خودروبان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37573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9889" y="4505325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محتوای مفید: نکات نگهداری خودرو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451933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9889" y="5457825"/>
            <a:ext cx="29050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هدف: جذب ارگانیک از گوگل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816" y="1924049"/>
            <a:ext cx="3495587" cy="4095749"/>
          </a:xfrm>
          <a:prstGeom prst="roundRect">
            <a:avLst>
              <a:gd name="adj" fmla="val 871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72125" y="22193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105472" y="2376121"/>
            <a:ext cx="304792" cy="2579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4797" y="2324100"/>
            <a:ext cx="1704932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شبکه‌های اجتماعی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083" y="2981325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لینکدین: محتوای حرفه‌ای برای مالکان خودرو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53116" y="2995332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48083" y="3743325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اینستاگرام: نکات نگهداری + نمونه کار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53116" y="3757332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8083" y="4505325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تلگرام: کانال آموزشی + تبلیغات هدفمند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53116" y="4519332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48083" y="5457825"/>
            <a:ext cx="29050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هزینه: زمان + ~۲۰۰K برای تبلیغات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485" y="1924049"/>
            <a:ext cx="3495587" cy="4095749"/>
          </a:xfrm>
          <a:prstGeom prst="roundRect">
            <a:avLst>
              <a:gd name="adj" fmla="val 871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319" y="22193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333666" y="2386378"/>
            <a:ext cx="304792" cy="2373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66813" y="2324100"/>
            <a:ext cx="157158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Vazirmatn"/>
                <a:rFonts ascii="Vazirmatn" hAnsi="Vazirmatn" eastAsia="Vazirmatn" cs="Vazirmatn"/>
              </a:rPr>
              <a:t>شراکت و همکاری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53" y="2981325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همکاری با تعویض روغنی‌ها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81310" y="29953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6753" y="3438525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معرفی به مشتریان مراکز سرویس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81310" y="3452532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6753" y="3895724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کمیسیون دوطرفه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81310" y="3909732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6753" y="5457825"/>
            <a:ext cx="29050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مرحله: آینده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8719" y="6305550"/>
            <a:ext cx="5381490" cy="3276599"/>
          </a:xfrm>
          <a:prstGeom prst="roundRect">
            <a:avLst>
              <a:gd name="adj" fmla="val 9302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58248" y="6677439"/>
            <a:ext cx="266693" cy="20872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29474" y="715327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۱-۳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9474" y="749617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رایگان (فقط زمان)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3986" y="715327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۴-۶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3986" y="7496174"/>
            <a:ext cx="2304992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~۵۰۰K (تبلیغات هدفمند)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3986" y="8524875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۷-۱۲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3986" y="8867775"/>
            <a:ext cx="4790955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~۱M (تبلیغات + شراکت)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485" y="6305550"/>
            <a:ext cx="5381490" cy="3276599"/>
          </a:xfrm>
          <a:prstGeom prst="roundRect">
            <a:avLst>
              <a:gd name="adj" fmla="val 9302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391015" y="6687585"/>
            <a:ext cx="266693" cy="18842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352716" y="715327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نرخ تبدیل بازدید به ثبت‌نام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2716" y="749617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۵٪+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753" y="715327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نرخ تبدیل رایگان به Pro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6753" y="749617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۱۰٪+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2716" y="810577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هزینه جذب مشتری (CAC)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2716" y="844867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&lt; ۱۰۰K تومان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753" y="8105774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بازگشت سرمایه (ROI)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753" y="8448674"/>
            <a:ext cx="23049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۵x+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46386"/>
            <a:ext cx="342891" cy="3074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نمونه کار و پیشرفت فعلی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1924049"/>
            <a:ext cx="5381490" cy="3733799"/>
          </a:xfrm>
          <a:prstGeom prst="roundRect">
            <a:avLst>
              <a:gd name="adj" fmla="val 816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58248" y="2287242"/>
            <a:ext cx="266693" cy="2261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29474" y="2771775"/>
            <a:ext cx="2304992" cy="733424"/>
          </a:xfrm>
          <a:prstGeom prst="roundRect">
            <a:avLst>
              <a:gd name="adj" fmla="val 31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91555" y="2952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67753" y="304609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96187" y="2990849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طراحی محصول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3986" y="2771775"/>
            <a:ext cx="2304992" cy="733424"/>
          </a:xfrm>
          <a:prstGeom prst="roundRect">
            <a:avLst>
              <a:gd name="adj" fmla="val 31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5592" y="2952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0" y="304609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81690" y="2990849"/>
            <a:ext cx="76198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تحلیل رقبا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9474" y="3695699"/>
            <a:ext cx="2304992" cy="733424"/>
          </a:xfrm>
          <a:prstGeom prst="roundRect">
            <a:avLst>
              <a:gd name="adj" fmla="val 31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91555" y="38766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67753" y="397002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34306" y="3914775"/>
            <a:ext cx="9048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معماری فنی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3986" y="3695699"/>
            <a:ext cx="2304992" cy="733424"/>
          </a:xfrm>
          <a:prstGeom prst="roundRect">
            <a:avLst>
              <a:gd name="adj" fmla="val 31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5592" y="38766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0" y="3970020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24501" y="3914775"/>
            <a:ext cx="12286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انتخاب تکنولوژی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9474" y="4629150"/>
            <a:ext cx="2304992" cy="733424"/>
          </a:xfrm>
          <a:prstGeom prst="roundRect">
            <a:avLst>
              <a:gd name="adj" fmla="val 3116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791555" y="48006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15237" y="4876800"/>
            <a:ext cx="2933626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96167" y="4838699"/>
            <a:ext cx="13429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توسعه MVP: ۶۰٪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485" y="1924049"/>
            <a:ext cx="5381490" cy="3733799"/>
          </a:xfrm>
          <a:prstGeom prst="roundRect">
            <a:avLst>
              <a:gd name="adj" fmla="val 816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391015" y="2295939"/>
            <a:ext cx="266693" cy="20872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333666" y="2771775"/>
            <a:ext cx="2324041" cy="838200"/>
          </a:xfrm>
          <a:prstGeom prst="roundRect">
            <a:avLst>
              <a:gd name="adj" fmla="val 272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24321" y="30003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200519" y="3102292"/>
            <a:ext cx="228594" cy="1771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486062" y="2886075"/>
            <a:ext cx="1485862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رابط کاربری طراحی شده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6753" y="2771775"/>
            <a:ext cx="2324041" cy="838200"/>
          </a:xfrm>
          <a:prstGeom prst="roundRect">
            <a:avLst>
              <a:gd name="adj" fmla="val 272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47883" y="30003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724081" y="3102292"/>
            <a:ext cx="228594" cy="1771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9149" y="2886075"/>
            <a:ext cx="1485862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Wireframe صفحات اصلی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3666" y="3762374"/>
            <a:ext cx="2324041" cy="838200"/>
          </a:xfrm>
          <a:prstGeom prst="roundRect">
            <a:avLst>
              <a:gd name="adj" fmla="val 272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24321" y="39909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200519" y="4092892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486062" y="3876674"/>
            <a:ext cx="1485862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معماری Backend آماده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6753" y="3762374"/>
            <a:ext cx="2324041" cy="838200"/>
          </a:xfrm>
          <a:prstGeom prst="roundRect">
            <a:avLst>
              <a:gd name="adj" fmla="val 272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647883" y="39909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724081" y="4124324"/>
            <a:ext cx="228594" cy="1143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19149" y="3876674"/>
            <a:ext cx="1485862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اتصال به Supabase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3666" y="4752974"/>
            <a:ext cx="2324041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124321" y="48672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200519" y="4973478"/>
            <a:ext cx="228594" cy="16859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495587" y="4905375"/>
            <a:ext cx="147633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سیستم احراز هویت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38719" y="5943600"/>
            <a:ext cx="5381490" cy="5562600"/>
          </a:xfrm>
          <a:prstGeom prst="roundRect">
            <a:avLst>
              <a:gd name="adj" fmla="val 566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1058248" y="6347377"/>
            <a:ext cx="266693" cy="144945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9029474" y="6791325"/>
            <a:ext cx="2304992" cy="1447800"/>
          </a:xfrm>
          <a:prstGeom prst="roundRect">
            <a:avLst>
              <a:gd name="adj" fmla="val 1578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791555" y="73247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0867753" y="7432357"/>
            <a:ext cx="228594" cy="16573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181870" y="7058025"/>
            <a:ext cx="1466813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Frontend: Vite + Svelte + TypeScript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3986" y="6791325"/>
            <a:ext cx="2304992" cy="1447800"/>
          </a:xfrm>
          <a:prstGeom prst="roundRect">
            <a:avLst>
              <a:gd name="adj" fmla="val 1578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05592" y="73247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381790" y="7418069"/>
            <a:ext cx="228594" cy="19430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686382" y="7210424"/>
            <a:ext cx="146681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Backend: Django REST Framework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29474" y="8429625"/>
            <a:ext cx="2304992" cy="1447800"/>
          </a:xfrm>
          <a:prstGeom prst="roundRect">
            <a:avLst>
              <a:gd name="adj" fmla="val 1578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791555" y="89630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0867753" y="9070657"/>
            <a:ext cx="228594" cy="16573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181870" y="8696325"/>
            <a:ext cx="1466813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Database: PostgreSQL (Supabase)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33986" y="8429625"/>
            <a:ext cx="2304992" cy="1447800"/>
          </a:xfrm>
          <a:prstGeom prst="roundRect">
            <a:avLst>
              <a:gd name="adj" fmla="val 1578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305592" y="89630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381790" y="9070657"/>
            <a:ext cx="228594" cy="16573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686382" y="8848724"/>
            <a:ext cx="146681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Hosting: Vercel + Supabase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29474" y="10067925"/>
            <a:ext cx="2304992" cy="1143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791555" y="104489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10867753" y="10550842"/>
            <a:ext cx="228594" cy="17716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181870" y="10334624"/>
            <a:ext cx="146681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AI Integration: OpenAI API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71485" y="5943600"/>
            <a:ext cx="5381490" cy="5562600"/>
          </a:xfrm>
          <a:prstGeom prst="roundRect">
            <a:avLst>
              <a:gd name="adj" fmla="val 566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391015" y="6306792"/>
            <a:ext cx="266693" cy="226115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866753" y="6791325"/>
            <a:ext cx="4790955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62340" y="6943725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هفته ۱-۴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90775" y="6943725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طراحی و معماری 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66753" y="7553324"/>
            <a:ext cx="4790955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62340" y="7705724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هفته ۵-۸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24101" y="7705724"/>
            <a:ext cx="14382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توسعه Frontend 🔄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6753" y="8315325"/>
            <a:ext cx="4790955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62340" y="8467725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هفته ۹-۱۲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52676" y="8467725"/>
            <a:ext cx="14096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توسعه Backend 🔄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66753" y="9077324"/>
            <a:ext cx="4790955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62340" y="9229725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هفته ۱۳-۱۶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33666" y="9229725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اتصال و تست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66753" y="9839325"/>
            <a:ext cx="4790955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62340" y="9991724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هفته ۱۷-۲۰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90775" y="9991724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بهبود و بهینه‌سازی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66753" y="10601325"/>
            <a:ext cx="4790955" cy="609600"/>
          </a:xfrm>
          <a:prstGeom prst="roundRect">
            <a:avLst>
              <a:gd name="adj" fmla="val 37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62340" y="10753725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هفته ۲۱-۲۴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43151" y="10753725"/>
            <a:ext cx="14191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راه‌اندازی و بازاریابی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6707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برنامه دقیق و قابل اجرا برای رسیدن به درآمد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67573" y="1924049"/>
            <a:ext cx="2552636" cy="5791200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53456" y="2295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86802" y="2453786"/>
            <a:ext cx="304792" cy="254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365" y="2219324"/>
            <a:ext cx="1238219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تکمیل MVP و راه‌اندازی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365" y="3133724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۱-۲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365" y="3590924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تکمیل توسعه MVP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36049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72365" y="4048124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تست با ۱۰ کاربر اولیه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406213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72365" y="4505325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دریافت بازخورد و بهبود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4519332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72365" y="5267324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راه‌اندازی نسخه بتا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5281332"/>
            <a:ext cx="190495" cy="16248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372365" y="6524624"/>
            <a:ext cx="1962100" cy="895350"/>
          </a:xfrm>
          <a:prstGeom prst="roundRect">
            <a:avLst>
              <a:gd name="adj" fmla="val 25531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365" y="6524624"/>
            <a:ext cx="1962100" cy="895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315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هدف درآمد: ۰ تومان (فاز جذب)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8719" y="1924049"/>
            <a:ext cx="2552636" cy="5791200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4601" y="2295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57948" y="2472836"/>
            <a:ext cx="304792" cy="2168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33986" y="2219324"/>
            <a:ext cx="1238219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Vazirmatn"/>
                <a:rFonts ascii="Vazirmatn" hAnsi="Vazirmatn" eastAsia="Vazirmatn" cs="Vazirmatn"/>
              </a:rPr>
              <a:t>بازاریابی و جذب کاربر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3986" y="3133724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۳-۴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3986" y="3590924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جذب ۱۰۰ کاربر فعال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3604932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33986" y="40481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تبدیل ۱۰ کاربر به Pro (۱۰٪)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4062132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33986" y="48101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شروع بازاریابی محتوایی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4824132"/>
            <a:ext cx="190495" cy="16248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05592" y="5586132"/>
            <a:ext cx="190495" cy="16248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33986" y="6524624"/>
            <a:ext cx="1962100" cy="895350"/>
          </a:xfrm>
          <a:prstGeom prst="roundRect">
            <a:avLst>
              <a:gd name="adj" fmla="val 25531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3986" y="6524624"/>
            <a:ext cx="1962100" cy="895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315" b="1">
                <a:solidFill>
                  <a:srgbClr val="3B82F6"/>
                </a:solidFill>
                <a:latin typeface="Vazirmatn"/>
                <a:rFonts ascii="Vazirmatn" hAnsi="Vazirmatn" eastAsia="Vazirmatn" cs="Vazirmatn"/>
              </a:rPr>
              <a:t>هدف درآمد: ۵۰۰K تومان/ماه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9864" y="1924049"/>
            <a:ext cx="2552636" cy="5791200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86222" y="2295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219569" y="2499213"/>
            <a:ext cx="304792" cy="16412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95607" y="2219324"/>
            <a:ext cx="1238219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رشد و بهینه‌سازی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95607" y="3133724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۵-۶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5607" y="35909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رسیدن به ۵۰۰ کاربر فعال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67213" y="3604932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695607" y="43529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تبدیل ۵۰ کاربر به Pro (۱۰٪)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67213" y="4366932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95607" y="5114925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بهبود نرخ تبدیل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67213" y="5128932"/>
            <a:ext cx="190495" cy="16248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67213" y="5586132"/>
            <a:ext cx="190495" cy="16248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3695607" y="6524624"/>
            <a:ext cx="1962100" cy="895350"/>
          </a:xfrm>
          <a:prstGeom prst="roundRect">
            <a:avLst>
              <a:gd name="adj" fmla="val 25531"/>
            </a:avLst>
          </a:prstGeom>
          <a:solidFill>
            <a:srgbClr val="FBBF2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95607" y="6524624"/>
            <a:ext cx="1962100" cy="895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31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هدف درآمد: ۲.۵M تومان/ماه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1485" y="1924049"/>
            <a:ext cx="2552636" cy="5791200"/>
          </a:xfrm>
          <a:prstGeom prst="roundRect">
            <a:avLst>
              <a:gd name="adj" fmla="val 1194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247843" y="22193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924001" y="2368226"/>
            <a:ext cx="1219169" cy="27369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04852" y="2324100"/>
            <a:ext cx="1190595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EF4444"/>
                </a:solidFill>
                <a:latin typeface="Vazirmatn"/>
                <a:rFonts ascii="Vazirmatn" hAnsi="Vazirmatn" eastAsia="Vazirmatn" cs="Vazirmatn"/>
              </a:rPr>
              <a:t>مقیاس‌پذیری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6753" y="2981325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ماه ۷-۱۲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6753" y="3438525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۱,۰۰۰+ کاربر فعال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628834" y="3452532"/>
            <a:ext cx="190495" cy="1624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66753" y="3895724"/>
            <a:ext cx="1962100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۱۰۰+ مشترک Pro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628834" y="3909732"/>
            <a:ext cx="190495" cy="16248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66753" y="4352924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درآمد پایدار ۵M تومان/ماه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628834" y="4366932"/>
            <a:ext cx="190495" cy="16248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66753" y="5114925"/>
            <a:ext cx="1962100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آماده‌سازی برای فاز ۲ (PWA)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628834" y="5128932"/>
            <a:ext cx="190495" cy="162485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866753" y="6524624"/>
            <a:ext cx="1962100" cy="895350"/>
          </a:xfrm>
          <a:prstGeom prst="roundRect">
            <a:avLst>
              <a:gd name="adj" fmla="val 25531"/>
            </a:avLst>
          </a:prstGeom>
          <a:solidFill>
            <a:srgbClr val="EF444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753" y="6524624"/>
            <a:ext cx="1962100" cy="895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315" b="1">
                <a:solidFill>
                  <a:srgbClr val="EF4444"/>
                </a:solidFill>
                <a:latin typeface="Vazirmatn"/>
                <a:rFonts ascii="Vazirmatn" hAnsi="Vazirmatn" eastAsia="Vazirmatn" cs="Vazirmatn"/>
              </a:rPr>
              <a:t>هدف درآمد: ۵M تومان/ماه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1485" y="8001000"/>
            <a:ext cx="11048723" cy="3809999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1058248" y="8383035"/>
            <a:ext cx="266693" cy="188429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8858028" y="8848724"/>
            <a:ext cx="2476438" cy="1238249"/>
          </a:xfrm>
          <a:prstGeom prst="roundRect">
            <a:avLst>
              <a:gd name="adj" fmla="val 1846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48583" y="9039225"/>
            <a:ext cx="88580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۱,۰۰۰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15217" y="9591674"/>
            <a:ext cx="154301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کاربران فعال در ۶ ماه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91095" y="8848724"/>
            <a:ext cx="2476438" cy="1238249"/>
          </a:xfrm>
          <a:prstGeom prst="roundRect">
            <a:avLst>
              <a:gd name="adj" fmla="val 1846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24521" y="9039225"/>
            <a:ext cx="60005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۱۰٪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91155" y="9591674"/>
            <a:ext cx="12763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نرخ تبدیل به Pro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24161" y="8848724"/>
            <a:ext cx="2476438" cy="1238249"/>
          </a:xfrm>
          <a:prstGeom prst="roundRect">
            <a:avLst>
              <a:gd name="adj" fmla="val 1846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57568" y="9039225"/>
            <a:ext cx="101914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۳۰٪+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1350" y="9591674"/>
            <a:ext cx="156206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نرخ نگهداری (ماهانه)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6753" y="8848724"/>
            <a:ext cx="2476438" cy="1238249"/>
          </a:xfrm>
          <a:prstGeom prst="roundRect">
            <a:avLst>
              <a:gd name="adj" fmla="val 1846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62080" y="9039225"/>
            <a:ext cx="68578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۵M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23941" y="9591674"/>
            <a:ext cx="15525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درآمد ماهانه (ماه ۱۲)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66753" y="10277474"/>
            <a:ext cx="10458188" cy="1238249"/>
          </a:xfrm>
          <a:prstGeom prst="roundRect">
            <a:avLst>
              <a:gd name="adj" fmla="val 1846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29154" y="10467975"/>
            <a:ext cx="53338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۴+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76738" y="11020424"/>
            <a:ext cx="12286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Vazirmatn"/>
                <a:rFonts ascii="Vazirmatn" hAnsi="Vazirmatn" eastAsia="Vazirmatn" cs="Vazirmatn"/>
              </a:rPr>
              <a:t>امتیاز کاربری از 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77318" y="66707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1181099"/>
            <a:ext cx="11048723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Vazirmatn"/>
                <a:rFonts ascii="Vazirmatn" hAnsi="Vazirmatn" eastAsia="Vazirmatn" cs="Vazirmatn"/>
              </a:rPr>
              <a:t>یک درخواست روشن و قابل اقدام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4621" y="1924049"/>
            <a:ext cx="3495587" cy="3486150"/>
          </a:xfrm>
          <a:prstGeom prst="roundRect">
            <a:avLst>
              <a:gd name="adj" fmla="val 874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53456" y="2295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86802" y="2487490"/>
            <a:ext cx="304792" cy="1875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9889" y="2219324"/>
            <a:ext cx="2181170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0B981"/>
                </a:solidFill>
                <a:latin typeface="Vazirmatn"/>
                <a:rFonts ascii="Vazirmatn" hAnsi="Vazirmatn" eastAsia="Vazirmatn" cs="Vazirmatn"/>
              </a:rPr>
              <a:t>من دنبال اولین مشتریان هستم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9889" y="3133724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۱۰ کاربر اولیه که MVP را تست کنند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314773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9889" y="3590924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بازخورد صادقانه برای بهبود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36049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9889" y="4048124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در صورت رضایت، تبدیل به مشتری Pro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34446" y="4062132"/>
            <a:ext cx="190495" cy="16248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52816" y="1924049"/>
            <a:ext cx="3495587" cy="3486150"/>
          </a:xfrm>
          <a:prstGeom prst="roundRect">
            <a:avLst>
              <a:gd name="adj" fmla="val 874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72125" y="2295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105472" y="2464044"/>
            <a:ext cx="304792" cy="2344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48083" y="2219324"/>
            <a:ext cx="2181170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  <a:latin typeface="Vazirmatn"/>
                <a:rFonts ascii="Vazirmatn" hAnsi="Vazirmatn" eastAsia="Vazirmatn" cs="Vazirmatn"/>
              </a:rPr>
              <a:t>من دنبال منتور/مشاور هستم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083" y="3133724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راهنمایی در بازاریابی و جذب مشتری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53116" y="31477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48083" y="3895724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معرفی به شبکه شما (در صورت امکان)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53116" y="3909732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48083" y="4657725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مشاوره در مدل کسب‌وکار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53116" y="4671732"/>
            <a:ext cx="190495" cy="16248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71485" y="1924049"/>
            <a:ext cx="3495587" cy="3486150"/>
          </a:xfrm>
          <a:prstGeom prst="roundRect">
            <a:avLst>
              <a:gd name="adj" fmla="val 874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319" y="22955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333666" y="2464044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6753" y="2219324"/>
            <a:ext cx="2181170" cy="723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Vazirmatn"/>
                <a:rFonts ascii="Vazirmatn" hAnsi="Vazirmatn" eastAsia="Vazirmatn" cs="Vazirmatn"/>
              </a:rPr>
              <a:t>من آماده‌ام که پروژه بگیرم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753" y="3133724"/>
            <a:ext cx="2905052" cy="3048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شراکت با مراکز سرویس خودرو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81310" y="31477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6753" y="3590924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ارائه نسخه سفارشی برای کسب‌وکارها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81310" y="36049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6753" y="4352924"/>
            <a:ext cx="2905052" cy="6096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1040"/>
              </a:spcAft>
            </a:pPr>
            <a:r>
              <a:rPr sz="1104"/>
              <a:t>  </a:t>
            </a: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 توسعه ویژگی‌های خاص بر اساس نیاز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81310" y="4366932"/>
            <a:ext cx="190495" cy="16248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71485" y="5695949"/>
            <a:ext cx="11048723" cy="1428750"/>
          </a:xfrm>
          <a:prstGeom prst="roundRect">
            <a:avLst>
              <a:gd name="adj" fmla="val 2133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886802" y="6172200"/>
            <a:ext cx="438139" cy="47624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991575" y="6327457"/>
            <a:ext cx="228594" cy="16573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48483" y="6105525"/>
            <a:ext cx="2076398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your-email@example.com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29354" y="6172200"/>
            <a:ext cx="438139" cy="47624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934126" y="6321742"/>
            <a:ext cx="228594" cy="1771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10204" y="6105525"/>
            <a:ext cx="876278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شماره تماس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976" y="61722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076798" y="631316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4757" y="6257925"/>
            <a:ext cx="10762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Vazirmatn"/>
                <a:rFonts ascii="Vazirmatn" hAnsi="Vazirmatn" eastAsia="Vazirmatn" cs="Vazirmatn"/>
              </a:rPr>
              <a:t>khodroban.ir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6753" y="5991225"/>
            <a:ext cx="3848003" cy="838200"/>
          </a:xfrm>
          <a:prstGeom prst="roundRect">
            <a:avLst>
              <a:gd name="adj" fmla="val 113636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